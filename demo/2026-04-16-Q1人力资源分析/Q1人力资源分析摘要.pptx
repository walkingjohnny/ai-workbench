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销售部</c:v>
                  </c:pt>
                  <c:pt idx="1">
                    <c:v>技术部</c:v>
                  </c:pt>
                  <c:pt idx="2">
                    <c:v>客服部</c:v>
                  </c:pt>
                  <c:pt idx="3">
                    <c:v>行政部</c:v>
                  </c:pt>
                  <c:pt idx="4">
                    <c:v>产品部</c:v>
                  </c:pt>
                  <c:pt idx="5">
                    <c:v>市场部</c:v>
                  </c:pt>
                  <c:pt idx="6">
                    <c:v>财务部</c:v>
                  </c:pt>
                  <c:pt idx="7">
                    <c:v>人力资源部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35</c:v>
                </c:pt>
                <c:pt idx="2">
                  <c:v>19</c:v>
                </c:pt>
                <c:pt idx="3">
                  <c:v>19</c:v>
                </c:pt>
                <c:pt idx="4">
                  <c:v>18</c:v>
                </c:pt>
                <c:pt idx="5">
                  <c:v>18</c:v>
                </c:pt>
                <c:pt idx="6">
                  <c:v>14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学历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bubble3D val="0"/>
            <c:spPr>
              <a:solidFill>
                <a:srgbClr val="8D99AE"/>
              </a:solidFill>
              <a:effectLst/>
            </c:spPr>
          </c:dPt>
          <c:dPt>
            <c:idx val="2"/>
            <c:bubble3D val="0"/>
            <c:spPr>
              <a:solidFill>
                <a:srgbClr val="EF233C"/>
              </a:solidFill>
              <a:effectLst/>
            </c:spPr>
          </c:dPt>
          <c:dPt>
            <c:idx val="3"/>
            <c:bubble3D val="0"/>
            <c:spPr>
              <a:solidFill>
                <a:srgbClr val="D9042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本科 51.5%</c:v>
                </c:pt>
                <c:pt idx="1">
                  <c:v>硕士 23.4%</c:v>
                </c:pt>
                <c:pt idx="2">
                  <c:v>大专 15.6%</c:v>
                </c:pt>
                <c:pt idx="3">
                  <c:v>博士 9.6%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86</c:v>
                </c:pt>
                <c:pt idx="1">
                  <c:v>39</c:v>
                </c:pt>
                <c:pt idx="2">
                  <c:v>26</c:v>
                </c:pt>
                <c:pt idx="3">
                  <c:v>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迟到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技术部</c:v>
                  </c:pt>
                  <c:pt idx="1">
                    <c:v>销售部</c:v>
                  </c:pt>
                  <c:pt idx="2">
                    <c:v>产品部</c:v>
                  </c:pt>
                  <c:pt idx="3">
                    <c:v>行政部</c:v>
                  </c:pt>
                  <c:pt idx="4">
                    <c:v>市场部</c:v>
                  </c:pt>
                  <c:pt idx="5">
                    <c:v>财务部</c:v>
                  </c:pt>
                  <c:pt idx="6">
                    <c:v>客服部</c:v>
                  </c:pt>
                  <c:pt idx="7">
                    <c:v>人力资源部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</c:v>
                </c:pt>
                <c:pt idx="1">
                  <c:v>59</c:v>
                </c:pt>
                <c:pt idx="2">
                  <c:v>41</c:v>
                </c:pt>
                <c:pt idx="3">
                  <c:v>40</c:v>
                </c:pt>
                <c:pt idx="4">
                  <c:v>39</c:v>
                </c:pt>
                <c:pt idx="5">
                  <c:v>38</c:v>
                </c:pt>
                <c:pt idx="6">
                  <c:v>31</c:v>
                </c:pt>
                <c:pt idx="7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早退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技术部</c:v>
                  </c:pt>
                  <c:pt idx="1">
                    <c:v>销售部</c:v>
                  </c:pt>
                  <c:pt idx="2">
                    <c:v>产品部</c:v>
                  </c:pt>
                  <c:pt idx="3">
                    <c:v>行政部</c:v>
                  </c:pt>
                  <c:pt idx="4">
                    <c:v>市场部</c:v>
                  </c:pt>
                  <c:pt idx="5">
                    <c:v>财务部</c:v>
                  </c:pt>
                  <c:pt idx="6">
                    <c:v>客服部</c:v>
                  </c:pt>
                  <c:pt idx="7">
                    <c:v>人力资源部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</c:v>
                </c:pt>
                <c:pt idx="1">
                  <c:v>39</c:v>
                </c:pt>
                <c:pt idx="2">
                  <c:v>11</c:v>
                </c:pt>
                <c:pt idx="3">
                  <c:v>20</c:v>
                </c:pt>
                <c:pt idx="4">
                  <c:v>12</c:v>
                </c:pt>
                <c:pt idx="5">
                  <c:v>16</c:v>
                </c:pt>
                <c:pt idx="6">
                  <c:v>22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平均实发工资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产品部</c:v>
                  </c:pt>
                  <c:pt idx="1">
                    <c:v>销售部</c:v>
                  </c:pt>
                  <c:pt idx="2">
                    <c:v>技术部</c:v>
                  </c:pt>
                  <c:pt idx="3">
                    <c:v>人力资源部</c:v>
                  </c:pt>
                  <c:pt idx="4">
                    <c:v>客服部</c:v>
                  </c:pt>
                  <c:pt idx="5">
                    <c:v>行政部</c:v>
                  </c:pt>
                  <c:pt idx="6">
                    <c:v>市场部</c:v>
                  </c:pt>
                  <c:pt idx="7">
                    <c:v>财务部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22116</c:v>
                </c:pt>
                <c:pt idx="1">
                  <c:v>19178</c:v>
                </c:pt>
                <c:pt idx="2">
                  <c:v>18697</c:v>
                </c:pt>
                <c:pt idx="3">
                  <c:v>17060</c:v>
                </c:pt>
                <c:pt idx="4">
                  <c:v>15604</c:v>
                </c:pt>
                <c:pt idx="5">
                  <c:v>13468</c:v>
                </c:pt>
                <c:pt idx="6">
                  <c:v>13457</c:v>
                </c:pt>
                <c:pt idx="7">
                  <c:v>12352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5K以下</c:v>
                  </c:pt>
                  <c:pt idx="1">
                    <c:v>5K-10K</c:v>
                  </c:pt>
                  <c:pt idx="2">
                    <c:v>10K-15K</c:v>
                  </c:pt>
                  <c:pt idx="3">
                    <c:v>15K-20K</c:v>
                  </c:pt>
                  <c:pt idx="4">
                    <c:v>20K以上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18</c:v>
                </c:pt>
                <c:pt idx="2">
                  <c:v>53</c:v>
                </c:pt>
                <c:pt idx="3">
                  <c:v>29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绩效等级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D99AE"/>
              </a:solidFill>
              <a:effectLst/>
            </c:spPr>
          </c:dPt>
          <c:dPt>
            <c:idx val="1"/>
            <c:bubble3D val="0"/>
            <c:spPr>
              <a:solidFill>
                <a:srgbClr val="2B2D42"/>
              </a:solidFill>
              <a:effectLst/>
            </c:spPr>
          </c:dPt>
          <c:dPt>
            <c:idx val="2"/>
            <c:bubble3D val="0"/>
            <c:spPr>
              <a:solidFill>
                <a:srgbClr val="EDF2F4"/>
              </a:solidFill>
              <a:effectLst/>
            </c:spPr>
          </c:dPt>
          <c:dPt>
            <c:idx val="3"/>
            <c:bubble3D val="0"/>
            <c:spPr>
              <a:solidFill>
                <a:srgbClr val="EF233C"/>
              </a:solidFill>
              <a:effectLst/>
            </c:spPr>
          </c:dPt>
          <c:dPt>
            <c:idx val="4"/>
            <c:bubble3D val="0"/>
            <c:spPr>
              <a:solidFill>
                <a:srgbClr val="D9042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C-良好 55.4%</c:v>
                </c:pt>
                <c:pt idx="1">
                  <c:v>B-优秀 33.8%</c:v>
                </c:pt>
                <c:pt idx="2">
                  <c:v>D-合格 8.1%</c:v>
                </c:pt>
                <c:pt idx="3">
                  <c:v>A-卓越 2.0%</c:v>
                </c:pt>
                <c:pt idx="4">
                  <c:v>E-待改进 0.7%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82</c:v>
                </c:pt>
                <c:pt idx="1">
                  <c:v>50</c:v>
                </c:pt>
                <c:pt idx="2">
                  <c:v>12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满意度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Python数据分析实战</c:v>
                  </c:pt>
                  <c:pt idx="1">
                    <c:v>领导力提升工作坊</c:v>
                  </c:pt>
                  <c:pt idx="2">
                    <c:v>财务报表分析入门</c:v>
                  </c:pt>
                  <c:pt idx="3">
                    <c:v>销售谈判技巧</c:v>
                  </c:pt>
                  <c:pt idx="4">
                    <c:v>信息安全意识培训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4.9</c:v>
                </c:pt>
                <c:pt idx="2">
                  <c:v>4.9</c:v>
                </c:pt>
                <c:pt idx="3">
                  <c:v>4.7</c:v>
                </c:pt>
                <c:pt idx="4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人力资源分析报告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2026年第一季度 · 人事数据综合分析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报告周期：2026年Q1  |  数据截至：2026年3月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关键指标总览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KPI 仪表板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1627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人员结构概况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27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部门分布 · 学历 · 在职状态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157984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1579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21579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考勤异常分析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1579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迟到早退 · 请假率 · Top 异常员工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688336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6883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26883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薪酬分布分析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26883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部门对比 · 薪资区间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218688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绩效分析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等级分布 · 部门排名 · 绩效薪资关联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749040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培训投入产出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费用汇总 · 满意度 · 覆盖率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279392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2793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4592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关键发现与建议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管理洞察与行动建议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总人数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8个部门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在职率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102人在职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¥16,914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平均实发工资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平均绩效分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¥32,000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Q1培训费用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18场培训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2648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培训满意度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满分5.0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人员结构概况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各部门人数分布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学历分布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572000" y="1280160"/>
          <a:ext cx="21031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114800"/>
            <a:ext cx="841248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在职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102人（61.1%）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29184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试用期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918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46人（27.5%）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2648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2648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19人（11.4%）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考勤异常分析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各部门考勤异常（迟到+早退次数）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请假率排名（部门）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请假率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人力资源部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行政部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 考勤异常员工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4206240"/>
            <a:ext cx="256032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郑俊杰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 | 异常 10次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91840" y="4206240"/>
            <a:ext cx="256032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1"/>
          <p:cNvSpPr/>
          <p:nvPr/>
        </p:nvSpPr>
        <p:spPr>
          <a:xfrm>
            <a:off x="33832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徐海燕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 | 异常 9次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4206240"/>
            <a:ext cx="256032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4"/>
          <p:cNvSpPr/>
          <p:nvPr/>
        </p:nvSpPr>
        <p:spPr>
          <a:xfrm>
            <a:off x="621792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林刚/王志强/徐磊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17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多部门 | 异常 8次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薪酬分布分析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各部门平均实发工资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薪资区间分布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46320" y="137160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3840480"/>
            <a:ext cx="384048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
</a:t>
            </a:r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10K-15K 区间人数最多（53人，35.8%）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20K 以上占 32.4%，薪资结构偏高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绩效等级分布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801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各部门平均绩效得分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人力资源部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80.41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79.41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行政部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78.88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77.46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75.22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Shape 7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0233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绩效与薪资关联发现：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D-合格组平均薪资 ¥19,709 高于 B-优秀组 ¥16,782，表明薪资与绩效关联性较弱，建议审视薪酬激励机制。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培训投入产出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培训场次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参训人次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6596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¥32,000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总费用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196596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4.16/5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平均满意度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 Top 5 课程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468880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02920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部门培训投入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46888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费用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¥27,000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人力资源部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关键发现与建议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2471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离职率偏高，试用期占比大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44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 19 人（11.4%），试用期 46 人（27.5%）。建议关注试用期留存率，优化入职培训和导师制。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绩效与薪酬脱节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214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D-合格组平均薪资（¥19,709）高于 B-优秀组（¥16,782）。建议重新审视薪酬体系，加强绩效与薪资的挂钩机制。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考勤管理需加强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986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月迟到 340 次、早退 157 次。人力资源部自身请假率最高（8.4%）。建议推行弹性考勤试点或加强纪律管理。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培训资源分配不均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758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技术部培训费用占比 84%（¥27,000/¥32,000），销售部仅 1 场培训。建议均衡分配培训预算，覆盖业务前线部门。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A-卓越人才稀缺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4531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3 人（2.0%）获 A-卓越评级。建议建立高潜人才识别机制，配套激励计划提升卓越比例。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人力资源分析报告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· 人力资源部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人力资源分析报告</dc:title>
  <dc:subject>PptxGenJS Presentation</dc:subject>
  <dc:creator>HR Analytics</dc:creator>
  <cp:lastModifiedBy>HR Analytics</cp:lastModifiedBy>
  <cp:revision>1</cp:revision>
  <dcterms:created xsi:type="dcterms:W3CDTF">2026-04-15T21:28:06Z</dcterms:created>
  <dcterms:modified xsi:type="dcterms:W3CDTF">2026-04-15T21:28:06Z</dcterms:modified>
</cp:coreProperties>
</file>