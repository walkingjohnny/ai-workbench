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049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03049"/>
                </a:solidFill>
                <a:latin typeface="Georgia"/>
              </a:rPr>
              <a:t>English-to-German BLEU Scores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EN-DE BLEU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0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69b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800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ByteNet</c:v>
                  </c:pt>
                  <c:pt idx="1">
                    <c:v>GNMT+RL</c:v>
                  </c:pt>
                  <c:pt idx="2">
                    <c:v>ConvS2S</c:v>
                  </c:pt>
                  <c:pt idx="3">
                    <c:v>MoE</c:v>
                  </c:pt>
                  <c:pt idx="4">
                    <c:v>Transformer
(base)</c:v>
                  </c:pt>
                  <c:pt idx="5">
                    <c:v>Transformer
(big)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23.75</c:v>
                </c:pt>
                <c:pt idx="1">
                  <c:v>24.6</c:v>
                </c:pt>
                <c:pt idx="2">
                  <c:v>25.16</c:v>
                </c:pt>
                <c:pt idx="3">
                  <c:v>26.03</c:v>
                </c:pt>
                <c:pt idx="4">
                  <c:v>27.3</c:v>
                </c:pt>
                <c:pt idx="5">
                  <c:v>28.4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30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30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91440" cy="256032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Is All You Need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Presentation on the Transformer Architecture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3657600" cy="0"/>
          </a:xfrm>
          <a:prstGeom prst="line">
            <a:avLst/>
          </a:prstGeom>
          <a:noFill/>
          <a:ln w="19050">
            <a:solidFill>
              <a:srgbClr val="669B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Shazeer, Parmar, Uszkoreit, Jones, Gomez, Kaiser, Polosukhin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2017 (NIPS)  |  Google Brain / Google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Presentation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Motivation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limitations and the need for parallelism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384048" cy="384048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1214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structure and key components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59736"/>
            <a:ext cx="384048" cy="384048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59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414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Mechanism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6883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and Multi-Head Attention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384048" cy="384048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Components &amp; Code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255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FFN, positional encoding, and implementation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93592"/>
            <a:ext cx="384048" cy="384048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547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 &amp; Results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822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 benchmarks and ablations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Discussion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future directions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1097280"/>
            <a:ext cx="1920240" cy="3474720"/>
          </a:xfrm>
          <a:prstGeom prst="rect">
            <a:avLst/>
          </a:prstGeom>
          <a:solidFill>
            <a:srgbClr val="003049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move beyond recurrence and convolution?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57200"/>
            <a:ext cx="109728" cy="4206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Sequential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3200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RNN / LSTM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computation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 depends on h(t-1) — cannot parallelize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dependency problem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must traverse O(n) steps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bottleneck at long sequences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batch size for training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51560"/>
            <a:ext cx="73152" cy="32004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parallelizable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recurrence — all positions computed at once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path length O(1)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connects all positions directly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solely on attention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RNN, no convolution needed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03049">
              <a:alpha val="9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28.4 BLEU (EN-DE), 41.8 BLEU (EN-FR) — trained in 3.5 days on 8 GPUs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Transformer: encoder-decoder with stacked self-attention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57200"/>
            <a:ext cx="109728" cy="4206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(N×6)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3840480"/>
            <a:ext cx="3200400" cy="384048"/>
          </a:xfrm>
          <a:prstGeom prst="rect">
            <a:avLst/>
          </a:prstGeom>
          <a:solidFill>
            <a:srgbClr val="669BBC">
              <a:alpha val="85000"/>
            </a:srgbClr>
          </a:solidFill>
          <a:ln w="12700">
            <a:solidFill>
              <a:srgbClr val="669B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840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 + Positional Encoding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3108960"/>
            <a:ext cx="3200400" cy="384048"/>
          </a:xfrm>
          <a:prstGeom prst="rect">
            <a:avLst/>
          </a:prstGeom>
          <a:solidFill>
            <a:srgbClr val="780000">
              <a:alpha val="85000"/>
            </a:srgbClr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3200400" cy="292608"/>
          </a:xfrm>
          <a:prstGeom prst="rect">
            <a:avLst/>
          </a:prstGeom>
          <a:solidFill>
            <a:srgbClr val="AAAAAA">
              <a:alpha val="8500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Layer Norm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3200400" cy="384048"/>
          </a:xfrm>
          <a:prstGeom prst="rect">
            <a:avLst/>
          </a:prstGeom>
          <a:solidFill>
            <a:srgbClr val="780000">
              <a:alpha val="85000"/>
            </a:srgbClr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48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1737360"/>
            <a:ext cx="3200400" cy="292608"/>
          </a:xfrm>
          <a:prstGeom prst="rect">
            <a:avLst/>
          </a:prstGeom>
          <a:solidFill>
            <a:srgbClr val="AAAAAA">
              <a:alpha val="8500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737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Layer Norm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36576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0280" y="33375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2926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40280" y="25146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69080" y="1737360"/>
            <a:ext cx="45720" cy="2487168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 (N×6)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66360" y="3840480"/>
            <a:ext cx="3200400" cy="384048"/>
          </a:xfrm>
          <a:prstGeom prst="rect">
            <a:avLst/>
          </a:prstGeom>
          <a:solidFill>
            <a:srgbClr val="669BBC">
              <a:alpha val="85000"/>
            </a:srgbClr>
          </a:solidFill>
          <a:ln w="12700">
            <a:solidFill>
              <a:srgbClr val="669B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840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Embedding + Positional Encoding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66360" y="3108960"/>
            <a:ext cx="3200400" cy="384048"/>
          </a:xfrm>
          <a:prstGeom prst="rect">
            <a:avLst/>
          </a:prstGeom>
          <a:solidFill>
            <a:srgbClr val="C1121F">
              <a:alpha val="85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Multi-Head Self-Attention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2697480"/>
            <a:ext cx="3200400" cy="292608"/>
          </a:xfrm>
          <a:prstGeom prst="rect">
            <a:avLst/>
          </a:prstGeom>
          <a:solidFill>
            <a:srgbClr val="AAAAAA">
              <a:alpha val="8500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697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Layer Norm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66360" y="2148840"/>
            <a:ext cx="3200400" cy="384048"/>
          </a:xfrm>
          <a:prstGeom prst="rect">
            <a:avLst/>
          </a:prstGeom>
          <a:solidFill>
            <a:srgbClr val="C1121F">
              <a:alpha val="85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148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Attention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1737360"/>
            <a:ext cx="3200400" cy="292608"/>
          </a:xfrm>
          <a:prstGeom prst="rect">
            <a:avLst/>
          </a:prstGeom>
          <a:solidFill>
            <a:srgbClr val="AAAAAA">
              <a:alpha val="8500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737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 → FFN → Add &amp; Norm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36576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33375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9400" y="2926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29400" y="25146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458200" y="1737360"/>
            <a:ext cx="45720" cy="2487168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2331720"/>
            <a:ext cx="914400" cy="0"/>
          </a:xfrm>
          <a:prstGeom prst="line">
            <a:avLst/>
          </a:prstGeom>
          <a:noFill/>
          <a:ln w="19050">
            <a:solidFill>
              <a:srgbClr val="0030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029200" y="1417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Softmax → Output Probabilities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 = 512  |  N = 6 layers  |  h = 8 heads  |  d_ff = 2048  |  d_k = d_v = 64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&amp; Decoder Stacks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of N = 6 identical layers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2 sub-layers: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Position-wise Feed-Forward Network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 + Layer Norm around each sub-layer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LayerNorm(x + Sublayer(x))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sub-layers output d_model = 512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 = 6 identical layers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3 sub-layers: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Multi-Head Self-Attention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Attention</a:t>
            </a:r>
            <a:endParaRPr lang="en-US" sz="13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Position-wise FFN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prevents attending to future positions (auto-regressive)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residual + LayerNorm pattern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innovation: Scaled Dot-Product &amp; Multi-Head Attention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57200"/>
            <a:ext cx="109728" cy="4206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Scaled Dot-Product Attention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846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69B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 K, V) = softmax( QKᵀ / √d_k ) V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Derivation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dot products: QKᵀ ∈ R^(n×n)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35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1/√d_k to prevent large gradients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93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softmax to get attention weights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weights by V for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 Flow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0" y="3749040"/>
            <a:ext cx="640080" cy="3657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3749040"/>
            <a:ext cx="640080" cy="3657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63840" y="3749040"/>
            <a:ext cx="640080" cy="3657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3154680"/>
            <a:ext cx="1188720" cy="365760"/>
          </a:xfrm>
          <a:prstGeom prst="rect">
            <a:avLst/>
          </a:prstGeom>
          <a:solidFill>
            <a:srgbClr val="003049">
              <a:alpha val="85000"/>
            </a:srgbClr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154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MatMul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606040"/>
            <a:ext cx="1188720" cy="320040"/>
          </a:xfrm>
          <a:prstGeom prst="rect">
            <a:avLst/>
          </a:prstGeom>
          <a:solidFill>
            <a:srgbClr val="C1121F">
              <a:alpha val="75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606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(1/√d_k)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103120"/>
            <a:ext cx="1188720" cy="320040"/>
          </a:xfrm>
          <a:prstGeom prst="rect">
            <a:avLst/>
          </a:prstGeom>
          <a:solidFill>
            <a:srgbClr val="669BBC">
              <a:alpha val="80000"/>
            </a:srgbClr>
          </a:solidFill>
          <a:ln w="12700">
            <a:solidFill>
              <a:srgbClr val="669B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103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1554480"/>
            <a:ext cx="1371600" cy="365760"/>
          </a:xfrm>
          <a:prstGeom prst="rect">
            <a:avLst/>
          </a:prstGeom>
          <a:solidFill>
            <a:srgbClr val="003049">
              <a:alpha val="85000"/>
            </a:srgbClr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MatMul (with V)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3520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29260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2423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1920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78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scale? For large d_k, dot products grow large → softmax saturates → vanishing gradients. Scaling by 1/√d_k stabilizes training.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Multi-Head Attention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69B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MultiHead(Q,K,V) = Concat(head₁,...,head₈) Wᴼ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headᵢ = Attention(Q Wᵢᵠ, K Wᵢᴷ, V Wᵢᵛ)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Dimensions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572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 × d_k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× 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4572000" cy="3200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18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 × d_k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218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× 64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4572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570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557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 × d_v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557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× 64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4572000" cy="32004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953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895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h·d_v × d_model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895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× 512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Multi-Head Mechanism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77840" y="3794760"/>
            <a:ext cx="640080" cy="32004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3794760"/>
            <a:ext cx="640080" cy="32004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3794760"/>
            <a:ext cx="640080" cy="32004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3246120"/>
            <a:ext cx="2926080" cy="320040"/>
          </a:xfrm>
          <a:prstGeom prst="rect">
            <a:avLst/>
          </a:prstGeom>
          <a:solidFill>
            <a:srgbClr val="003049">
              <a:alpha val="85000"/>
            </a:srgbClr>
          </a:solidFill>
          <a:ln w="9525">
            <a:solidFill>
              <a:srgbClr val="0030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Projections (× h heads)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2606040"/>
            <a:ext cx="594360" cy="411480"/>
          </a:xfrm>
          <a:prstGeom prst="rect">
            <a:avLst/>
          </a:prstGeom>
          <a:solidFill>
            <a:srgbClr val="669BBC">
              <a:alpha val="75000"/>
            </a:srgbClr>
          </a:solidFill>
          <a:ln w="9525">
            <a:solidFill>
              <a:srgbClr val="669B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606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17920" y="2606040"/>
            <a:ext cx="594360" cy="411480"/>
          </a:xfrm>
          <a:prstGeom prst="rect">
            <a:avLst/>
          </a:prstGeom>
          <a:solidFill>
            <a:srgbClr val="780000">
              <a:alpha val="75000"/>
            </a:srgbClr>
          </a:solidFill>
          <a:ln w="9525">
            <a:solidFill>
              <a:srgbClr val="78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606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9440" y="2606040"/>
            <a:ext cx="594360" cy="411480"/>
          </a:xfrm>
          <a:prstGeom prst="rect">
            <a:avLst/>
          </a:prstGeom>
          <a:solidFill>
            <a:srgbClr val="C1121F">
              <a:alpha val="75000"/>
            </a:srgbClr>
          </a:solidFill>
          <a:ln w="9525">
            <a:solidFill>
              <a:srgbClr val="C112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606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80960" y="2606040"/>
            <a:ext cx="594360" cy="411480"/>
          </a:xfrm>
          <a:prstGeom prst="rect">
            <a:avLst/>
          </a:prstGeom>
          <a:solidFill>
            <a:srgbClr val="003049">
              <a:alpha val="75000"/>
            </a:srgbClr>
          </a:solidFill>
          <a:ln w="9525">
            <a:solidFill>
              <a:srgbClr val="0030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2606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2606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60720" y="1965960"/>
            <a:ext cx="2194560" cy="365760"/>
          </a:xfrm>
          <a:prstGeom prst="rect">
            <a:avLst/>
          </a:prstGeom>
          <a:solidFill>
            <a:srgbClr val="669BBC">
              <a:alpha val="85000"/>
            </a:srgbClr>
          </a:solidFill>
          <a:ln w="12700">
            <a:solidFill>
              <a:srgbClr val="669BB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760720" y="1417320"/>
            <a:ext cx="2194560" cy="3200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(Wᴼ)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 = 8 parallel heads, each with d_k = d_v = 64. Total cost ≈ single-head attention with full d_model = 512.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Uses of Attention in the Transformer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560320" cy="6858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all from encoder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 attends to all positions in previous layer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full input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51560"/>
            <a:ext cx="2560320" cy="6858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051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all from decoder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to prevent attending to future positions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auto-regressive property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51560"/>
            <a:ext cx="2560320" cy="6858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Encoder-Decoder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from decoder, K and V from encoder output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decoder position attends to all encoder positions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source and target sequences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03049">
              <a:alpha val="9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use the same Multi-Head Attention mechanism — only the source of Q, K, V differs.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Components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FFN, Positional Encoding, and implementation details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57200"/>
            <a:ext cx="109728" cy="4206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Position-wise FFN &amp; Positional Encoding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8288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Feed-Forward Network (FFN)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solidFill>
            <a:srgbClr val="003049">
              <a:alpha val="9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FFN(x) = max(0, xW₁ + b₁) W₂ + b₂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linear transforms with ReLU between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 = 512, d_ff = 2048 (inner layer)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each position independently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73152" cy="18288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Encoding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20640" y="1463040"/>
            <a:ext cx="3383280" cy="685800"/>
          </a:xfrm>
          <a:prstGeom prst="rect">
            <a:avLst/>
          </a:prstGeom>
          <a:solidFill>
            <a:srgbClr val="669BBC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463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PE(pos,2i) = sin(pos / 10000^(2i/d_model))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PE(pos,2i+1) = cos(pos / 10000^(2i/d_model))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240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input embeddings (same d_model)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learning relative positions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Computational Complexity Comparison (Table 1 from paper)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118872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01168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/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Path 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 · 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· d²)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 · n · d²)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O(log_k(n))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Self-Attention (PyTorch Pseudocode)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383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scaled_dot_product_attention.py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torch.nn.functional as F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attention(Q, K, V, mask=None):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"""Scaled Dot-Product Attention"""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d_k = Q.size(-1)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1: QK^T / sqrt(d_k)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torch.matmul(Q, K.T)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scores / math.sqrt(d_k)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2: Optional mask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mask is not None: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scores = scores.masked_fill(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mask == 0, float('-inf'))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3: Softmax + matmul V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 = F.softmax(scores, -1)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torch.matmul(weights, V)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383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multi_head_attention.py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MultiHeadAttention(nn.Module):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d_model, h):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self.d_k = d_model // h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 = h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Projection matrices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self.W_q = nn.Linear(d_model,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d_model)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self.W_k = nn.Linear(d_model,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d_model)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self.W_v = nn.Linear(d_model,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d_model)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self.W_o = nn.Linear(d_model,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d_model)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Q, K, V):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Project &amp; split into heads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Parallel attention + concat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Final projection W_o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self.W_o(output)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Results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 benchmarks and model ablations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57200"/>
            <a:ext cx="109728" cy="4206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Translation Results (WMT 2014)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30352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03520" y="1417320"/>
            <a:ext cx="33832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03520" y="1417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28.4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583680" y="1417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(EN-DE)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 over previous SOTA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ensembles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03520" y="2468880"/>
            <a:ext cx="33832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03520" y="2468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41.8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6583680" y="2468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(EN-FR)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single-model SOTA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1/4 training cost of prev. SOTA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0" y="3520440"/>
            <a:ext cx="3383280" cy="457200"/>
          </a:xfrm>
          <a:prstGeom prst="rect">
            <a:avLst/>
          </a:prstGeom>
          <a:solidFill>
            <a:srgbClr val="003049">
              <a:alpha val="9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3.5 days on 8x P100 GPUs (big model)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2, Vaswani et al. (2017)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Study: What Matters?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" cy="329184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of Heads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07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h=8 is optimal. Single-head: -0.9 BLEU. Too many heads (32): quality drops.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329184" cy="329184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09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Key Size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d_k hurts quality. Compatibility function matters.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329184" cy="329184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14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624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models are better: d_model 1024 → +0.2 BLEU.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329184" cy="329184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826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(0.1) is essential for avoiding overfitting.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329184" cy="329184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30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685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Encoding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941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≈ learned embeddings. Sinusoidal chosen for extrapolation.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Results (Table 3)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64008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d_k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1 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16 heads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32 heads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(C) d_model=256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(C) d_model=1024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9B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8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8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8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8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Model size, attention head count, and regularization all significantly impact performance.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8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Discussion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sequence transduction model based entirely on attention (no RNN, no CNN)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new SOTA on EN-DE (28.4) and EN-FR (41.8) translation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523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significantly faster: 3.5 days on 8 GPUs vs. weeks for competitors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054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captures diverse patterns at constant path length O(1)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02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584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to other tasks (English constituency parsing: 92.7 F1)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Legacy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146304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463040"/>
            <a:ext cx="73152" cy="20116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5544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modern NLP</a:t>
            </a:r>
            <a:endParaRPr lang="en-US" sz="1200" dirty="0"/>
          </a:p>
          <a:p>
            <a:pPr algn="l"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GPT, T5, ViT all built on Transformers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beyond text</a:t>
            </a:r>
            <a:endParaRPr lang="en-US" sz="1200" dirty="0"/>
          </a:p>
          <a:p>
            <a:pPr algn="l"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speech, multimodal, protein folding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attention as ongoing research</a:t>
            </a:r>
            <a:endParaRPr lang="en-US" sz="1200" dirty="0"/>
          </a:p>
          <a:p>
            <a:pPr algn="l"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Sparse, linear, local attention variants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al., "Attention Is All You Need", NeurIPS 2017. Code: github.com/tensorflow/tensor2tensor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4114800" cy="64008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51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—  Questions?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- Paper Presentation</dc:title>
  <dc:subject>PptxGenJS Presentation</dc:subject>
  <dc:creator>Academic Presentation</dc:creator>
  <cp:lastModifiedBy>Academic Presentation</cp:lastModifiedBy>
  <cp:revision>1</cp:revision>
  <dcterms:created xsi:type="dcterms:W3CDTF">2026-04-15T21:29:25Z</dcterms:created>
  <dcterms:modified xsi:type="dcterms:W3CDTF">2026-04-15T21:29:25Z</dcterms:modified>
</cp:coreProperties>
</file>